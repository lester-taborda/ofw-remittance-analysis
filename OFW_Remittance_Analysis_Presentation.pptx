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13232"/>
            <a:ext cx="71323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$30B Lifeline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7132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BDD7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Understanding OFW Remittance Trends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11480" y="2176272"/>
            <a:ext cx="5029200" cy="36576"/>
          </a:xfrm>
          <a:prstGeom prst="rect">
            <a:avLst/>
          </a:prstGeom>
          <a:solidFill>
            <a:srgbClr val="C9A84C">
              <a:alpha val="60000"/>
            </a:srgbClr>
          </a:solidFill>
          <a:ln w="1270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359152"/>
            <a:ext cx="8046720" cy="1234440"/>
          </a:xfrm>
          <a:prstGeom prst="rect">
            <a:avLst/>
          </a:prstGeom>
          <a:solidFill>
            <a:srgbClr val="2E4A7A">
              <a:alpha val="70000"/>
            </a:srgbClr>
          </a:solidFill>
          <a:ln w="12700">
            <a:solidFill>
              <a:srgbClr val="BDD7EE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2316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15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Task</a:t>
            </a:r>
            <a:endParaRPr lang="en-US" sz="2000" b="1" kern="0" spc="150" dirty="0">
              <a:solidFill>
                <a:srgbClr val="C9A84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94360" y="2706624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 OFW remittance data to identify high-volume corridors underserved by formal banking channels, and provide a Philippine commercial bank with data-driven recommendations on where to prioritize digital remittance expansion.</a:t>
            </a:r>
            <a:endParaRPr lang="en-US" sz="1400" i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663440"/>
            <a:ext cx="8321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Lester John Taborda</a:t>
            </a:r>
            <a:r>
              <a:rPr lang="en-US" sz="120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·   Last Updated: March 26, 2026</a:t>
            </a:r>
            <a:endParaRPr lang="en-US" sz="1200" dirty="0">
              <a:solidFill>
                <a:srgbClr val="AABBC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6400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GOALS FOR THIS DISCUSSION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2120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DD7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this analysis will answer — and how it helps the bank decide.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0690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15568"/>
            <a:ext cx="82296" cy="15361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225296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4632" y="1572768"/>
            <a:ext cx="3813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does the money flow?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4632" y="1956816"/>
            <a:ext cx="381304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and rank the top OFW remittance corridors by volume using BSP data (2019–2024).</a:t>
            </a:r>
            <a:endParaRPr lang="en-US" sz="1400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54880" y="1115568"/>
            <a:ext cx="40690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15568"/>
            <a:ext cx="82296" cy="15361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225296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19472" y="1572768"/>
            <a:ext cx="3813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has it grown over time?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19472" y="1956816"/>
            <a:ext cx="381304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corridor-level trends across 6 years to reveal which markets are expanding fastest.</a:t>
            </a:r>
            <a:endParaRPr lang="en-US" sz="1400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34640"/>
            <a:ext cx="82296" cy="1737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926080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4632" y="3273552"/>
            <a:ext cx="244144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did COVID reveal?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4632" y="3785616"/>
            <a:ext cx="244144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Examine how corridors responded differently to the 2020 shock — resilience vs. contraction.</a:t>
            </a:r>
            <a:endParaRPr lang="en-US" sz="1200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172968" y="283464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2834640"/>
            <a:ext cx="82296" cy="1737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926080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337560" y="3273552"/>
            <a:ext cx="244144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big is the untapped opportunity?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337560" y="3785616"/>
            <a:ext cx="244144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Estimate the non-bank remittance volume per corridor using PSA mode-of-transfer data.</a:t>
            </a:r>
            <a:endParaRPr lang="en-US" sz="1200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025896" y="283464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25896" y="2834640"/>
            <a:ext cx="82296" cy="17373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0488" y="2926080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7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190488" y="3273552"/>
            <a:ext cx="244144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should the bank act first?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190488" y="3785616"/>
            <a:ext cx="244144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Translate data findings into prioritized, corridor-specific recommendations for digital expansion.</a:t>
            </a:r>
            <a:endParaRPr lang="en-US" sz="1200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US Corridor </a:t>
            </a:r>
            <a:r>
              <a:rPr lang="en-PH" alt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</a:t>
            </a: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 </a:t>
            </a:r>
            <a:r>
              <a:rPr lang="en-PH" alt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</a:t>
            </a: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 Category of Its Own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DD7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Unit: USD Thousands  ·  Source: BSP Cash Remittances by Country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458200" y="164592"/>
            <a:ext cx="411480" cy="4114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58200" y="16459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53250" y="1426210"/>
            <a:ext cx="2076450" cy="9474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53250" y="1453515"/>
            <a:ext cx="2076450" cy="473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5.6×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953250" y="2002155"/>
            <a:ext cx="2076450" cy="255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larger than #2 Singapore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53250" y="2660650"/>
            <a:ext cx="2076450" cy="801370"/>
          </a:xfrm>
          <a:prstGeom prst="rect">
            <a:avLst/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53250" y="2687955"/>
            <a:ext cx="2076450" cy="4006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40.6%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953250" y="3145155"/>
            <a:ext cx="2076450" cy="2330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all OFW remittances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0040" y="4627880"/>
            <a:ext cx="8503920" cy="521970"/>
          </a:xfrm>
          <a:prstGeom prst="rect">
            <a:avLst/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4576572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Data: BSP Cash Remittances by Country, 2019–2024. Rankings based on 2024 annual totals.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Threshold: Countries with ≥ USD 100M annual total included. 27 corridors met this threshold in 2024.</a:t>
            </a:r>
            <a:endParaRPr lang="en-US" sz="850" dirty="0"/>
          </a:p>
        </p:txBody>
      </p:sp>
      <p:pic>
        <p:nvPicPr>
          <p:cNvPr id="17" name="Picture 16" descr="Top 10 by 2024 Volume"/>
          <p:cNvPicPr>
            <a:picLocks noChangeAspect="1"/>
          </p:cNvPicPr>
          <p:nvPr/>
        </p:nvPicPr>
        <p:blipFill>
          <a:blip r:embed="rId1"/>
          <a:srcRect r="14271"/>
          <a:stretch>
            <a:fillRect/>
          </a:stretch>
        </p:blipFill>
        <p:spPr>
          <a:xfrm>
            <a:off x="0" y="897255"/>
            <a:ext cx="7077075" cy="36683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 Dominance Has Grown Consistently Since 2019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DD7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Unit: USD Thousands  ·  Source: BSP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458200" y="164592"/>
            <a:ext cx="411480" cy="4114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58200" y="16459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0040" y="4713732"/>
            <a:ext cx="8503920" cy="384048"/>
          </a:xfrm>
          <a:prstGeom prst="rect">
            <a:avLst/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47594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BSP 2019–2024 annual data. Top 5 corridors by 2024 volume shown.</a:t>
            </a:r>
            <a:endParaRPr lang="en-US" sz="850" dirty="0"/>
          </a:p>
        </p:txBody>
      </p:sp>
      <p:pic>
        <p:nvPicPr>
          <p:cNvPr id="25" name="Picture 24" descr="Top 5 by Remittan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6775"/>
            <a:ext cx="8168640" cy="3872230"/>
          </a:xfrm>
          <a:prstGeom prst="rect">
            <a:avLst/>
          </a:prstGeom>
        </p:spPr>
      </p:pic>
      <p:sp>
        <p:nvSpPr>
          <p:cNvPr id="32" name="Shape 6"/>
          <p:cNvSpPr/>
          <p:nvPr/>
        </p:nvSpPr>
        <p:spPr>
          <a:xfrm>
            <a:off x="7254240" y="2388870"/>
            <a:ext cx="1737360" cy="804672"/>
          </a:xfrm>
          <a:prstGeom prst="rect">
            <a:avLst/>
          </a:prstGeom>
          <a:solidFill>
            <a:srgbClr val="1F3864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7"/>
          <p:cNvSpPr/>
          <p:nvPr/>
        </p:nvSpPr>
        <p:spPr>
          <a:xfrm>
            <a:off x="7254240" y="243459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$77.1B</a:t>
            </a:r>
            <a:endParaRPr lang="en-US" sz="2000" dirty="0"/>
          </a:p>
        </p:txBody>
      </p:sp>
      <p:sp>
        <p:nvSpPr>
          <p:cNvPr id="34" name="Text 8"/>
          <p:cNvSpPr/>
          <p:nvPr/>
        </p:nvSpPr>
        <p:spPr>
          <a:xfrm>
            <a:off x="7254240" y="2827782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 6-yr cumulative</a:t>
            </a:r>
            <a:endParaRPr lang="en-US" sz="900" dirty="0"/>
          </a:p>
        </p:txBody>
      </p:sp>
      <p:sp>
        <p:nvSpPr>
          <p:cNvPr id="35" name="Shape 9"/>
          <p:cNvSpPr/>
          <p:nvPr/>
        </p:nvSpPr>
        <p:spPr>
          <a:xfrm>
            <a:off x="7254240" y="3376422"/>
            <a:ext cx="1737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10"/>
          <p:cNvSpPr/>
          <p:nvPr/>
        </p:nvSpPr>
        <p:spPr>
          <a:xfrm>
            <a:off x="7254240" y="3422142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+23.8%</a:t>
            </a:r>
            <a:endParaRPr lang="en-US" sz="2000" dirty="0"/>
          </a:p>
        </p:txBody>
      </p:sp>
      <p:sp>
        <p:nvSpPr>
          <p:cNvPr id="37" name="Text 11"/>
          <p:cNvSpPr/>
          <p:nvPr/>
        </p:nvSpPr>
        <p:spPr>
          <a:xfrm>
            <a:off x="7254240" y="3815334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 growth 2019→2024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COVID Split OFW Corridors: Western Markets Grew, Gulf Contracted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DD7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Year-over-year change in remittances, 2019 → 2020 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458200" y="164592"/>
            <a:ext cx="411480" cy="4114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58200" y="16459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20040" y="4530852"/>
            <a:ext cx="8503920" cy="566928"/>
          </a:xfrm>
          <a:prstGeom prst="rect">
            <a:avLst/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2920" y="4576572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Filtered to 5 biggest gainers and 5 biggest decliners for clarity. Full corridor data in BSP_OFW_Analysis.xlsx.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Gulf corridor declines reflect OFW job losses and reduced deployment during the pandemic. Western corridor growth reflects continued professional OFW income stability.</a:t>
            </a:r>
            <a:endParaRPr lang="en-US" sz="850" dirty="0"/>
          </a:p>
        </p:txBody>
      </p:sp>
      <p:pic>
        <p:nvPicPr>
          <p:cNvPr id="18" name="Picture 17" descr="COVID Impac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24685"/>
            <a:ext cx="9144000" cy="2134235"/>
          </a:xfrm>
          <a:prstGeom prst="rect">
            <a:avLst/>
          </a:prstGeom>
        </p:spPr>
      </p:pic>
      <p:sp>
        <p:nvSpPr>
          <p:cNvPr id="30" name="Shape 4"/>
          <p:cNvSpPr/>
          <p:nvPr/>
        </p:nvSpPr>
        <p:spPr>
          <a:xfrm>
            <a:off x="7421245" y="953770"/>
            <a:ext cx="1631315" cy="948055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5"/>
          <p:cNvSpPr/>
          <p:nvPr/>
        </p:nvSpPr>
        <p:spPr>
          <a:xfrm>
            <a:off x="7421245" y="989965"/>
            <a:ext cx="1631950" cy="505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+68.2%</a:t>
            </a:r>
            <a:endParaRPr lang="en-US" sz="2800" dirty="0"/>
          </a:p>
        </p:txBody>
      </p:sp>
      <p:sp>
        <p:nvSpPr>
          <p:cNvPr id="32" name="Text 6"/>
          <p:cNvSpPr/>
          <p:nvPr/>
        </p:nvSpPr>
        <p:spPr>
          <a:xfrm>
            <a:off x="7421245" y="1557020"/>
            <a:ext cx="1633855" cy="3733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Oman — biggest gainer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C4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vs. –42.8% Netherlands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9164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$13.04 Billion Flows Outside Formal Banking Annually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458200" y="164592"/>
            <a:ext cx="411480" cy="4114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58200" y="16459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20840" y="2514600"/>
            <a:ext cx="274320" cy="2377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86600" y="2514600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Tier 1 — Priority (≥$1B)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20840" y="2880360"/>
            <a:ext cx="274320" cy="23774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2880360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Tier 2 — High Potential</a:t>
            </a:r>
            <a:endParaRPr lang="en-US" sz="900" dirty="0"/>
          </a:p>
        </p:txBody>
      </p:sp>
      <p:pic>
        <p:nvPicPr>
          <p:cNvPr id="18" name="Picture 17" descr="Non-bank Opportunit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" y="2165350"/>
            <a:ext cx="8968740" cy="2384425"/>
          </a:xfrm>
          <a:prstGeom prst="rect">
            <a:avLst/>
          </a:prstGeom>
        </p:spPr>
      </p:pic>
      <p:sp>
        <p:nvSpPr>
          <p:cNvPr id="19" name="Shape 6"/>
          <p:cNvSpPr/>
          <p:nvPr/>
        </p:nvSpPr>
        <p:spPr>
          <a:xfrm>
            <a:off x="7302500" y="960120"/>
            <a:ext cx="1717040" cy="111950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7"/>
          <p:cNvSpPr/>
          <p:nvPr/>
        </p:nvSpPr>
        <p:spPr>
          <a:xfrm>
            <a:off x="7302500" y="987425"/>
            <a:ext cx="1717040" cy="6121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$13.04B</a:t>
            </a:r>
            <a:endParaRPr lang="en-US" sz="2800" dirty="0"/>
          </a:p>
        </p:txBody>
      </p:sp>
      <p:sp>
        <p:nvSpPr>
          <p:cNvPr id="21" name="Text 8"/>
          <p:cNvSpPr/>
          <p:nvPr/>
        </p:nvSpPr>
        <p:spPr>
          <a:xfrm>
            <a:off x="7302500" y="1718945"/>
            <a:ext cx="1717040" cy="410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annual opportunity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across 27 corridors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SHOULD YOUR BANK DO NEXT?</a:t>
            </a:r>
            <a:endParaRPr lang="en-US" sz="1600" b="1" kern="0" spc="200" dirty="0">
              <a:solidFill>
                <a:srgbClr val="C9A84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data-driven recommendations for digital remittance expansion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5029200" cy="36576"/>
          </a:xfrm>
          <a:prstGeom prst="rect">
            <a:avLst/>
          </a:prstGeom>
          <a:solidFill>
            <a:srgbClr val="C9A84C">
              <a:alpha val="50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8321040" cy="1078992"/>
          </a:xfrm>
          <a:prstGeom prst="rect">
            <a:avLst/>
          </a:prstGeom>
          <a:solidFill>
            <a:srgbClr val="2E4A7A">
              <a:alpha val="8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73152" cy="10789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80744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1417320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Prioritize US Corridor Digital Onboarding</a:t>
            </a:r>
            <a:endParaRPr lang="en-US" sz="16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0" y="1417320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C9A84C">
              <a:alpha val="25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4173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$5.47B opportunity</a:t>
            </a:r>
            <a:endParaRPr lang="en-US" sz="1200" b="1" dirty="0">
              <a:solidFill>
                <a:srgbClr val="C9A84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34440" y="1783080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$5.47B flows outside formal banking in the US corridor alone — 41.9% of the total addressable opportunity. This single corridor justifies dedicated digital infrastructure, competitive fee structures, and targeted OFW community partnerships in key US states.</a:t>
            </a:r>
            <a:endParaRPr lang="en-US" sz="1200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2496312"/>
            <a:ext cx="8321040" cy="1078992"/>
          </a:xfrm>
          <a:prstGeom prst="rect">
            <a:avLst/>
          </a:prstGeom>
          <a:solidFill>
            <a:srgbClr val="2E4A7A">
              <a:alpha val="8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96312"/>
            <a:ext cx="73152" cy="107899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51176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90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34440" y="2587752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Gulf Recovery Corridors with Competitive Fees</a:t>
            </a:r>
            <a:endParaRPr lang="en-US" sz="16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0" y="2587752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4A90D9">
              <a:alpha val="25000"/>
            </a:srgbClr>
          </a:solidFill>
          <a:ln w="12700">
            <a:solidFill>
              <a:srgbClr val="4A90D9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5877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0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Saudi · Qatar · UAE · Kuwait</a:t>
            </a:r>
            <a:endParaRPr lang="en-US" sz="1200" b="1" dirty="0">
              <a:solidFill>
                <a:srgbClr val="4A90D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34440" y="2953512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Saudi Arabia (+1.1% CAGR) and Qatar (+5.2% CAGR) have recovered and are growing post-COVID. UAE and Kuwait have not fully recovered — presenting an opening for a competitive bank to capture displaced flows with transparent pricing.</a:t>
            </a:r>
            <a:endParaRPr lang="en-US" sz="1200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3666744"/>
            <a:ext cx="8321040" cy="1078992"/>
          </a:xfrm>
          <a:prstGeom prst="rect">
            <a:avLst/>
          </a:prstGeom>
          <a:solidFill>
            <a:srgbClr val="2E4A7A">
              <a:alpha val="8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666744"/>
            <a:ext cx="73152" cy="107899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721608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34440" y="3758184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Early Infrastructure in High-CAGR Emerging Corridors</a:t>
            </a:r>
            <a:endParaRPr lang="en-US" sz="16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00800" y="3758184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2ECC71">
              <a:alpha val="25000"/>
            </a:srgbClr>
          </a:solidFill>
          <a:ln w="12700">
            <a:solidFill>
              <a:srgbClr val="2ECC71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75818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Cyprus · Taiwan · Malaysia</a:t>
            </a:r>
            <a:endParaRPr lang="en-US" sz="1200" b="1" dirty="0">
              <a:solidFill>
                <a:srgbClr val="2ECC7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234440" y="4123944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Cyprus (+14.9%), Taiwan ROC (+9.7%), and Malaysia (+7.2%) are growing 2–3× faster than top-volume corridors. Establishing digital remittance presence now — before volumes peak — gives the bank a cost advantage and first-mover loyalty.</a:t>
            </a:r>
            <a:endParaRPr lang="en-US" sz="1200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" y="4828032"/>
            <a:ext cx="8321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890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These recommendations are data-driven. Corridor prioritization is based on BSP 2024 volumes and PSA SOF 2024 bank usage proxy.</a:t>
            </a:r>
            <a:endParaRPr lang="en-US" sz="900" i="1" dirty="0">
              <a:solidFill>
                <a:srgbClr val="7890A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REFERENCES &amp; DATA SOURCES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21208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DD7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data sourced from Philippine government institutions. Publicly available, no license restrictions.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82296" cy="10972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52144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Bangko Sentral ng Pilipinas (BSP)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3990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5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Cash Remittances by Country — Monthly Excel File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609344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https://www.bsp.gov.ph/SitePages/Statistics/External.aspx?TabId=8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810512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dataset. Annual corridor-level remittances 2019–2024. Used for: corridor ranking, trend analysis, COVID impact, underserved opportunity sizing.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340864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40864"/>
            <a:ext cx="82296" cy="10972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414016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Philippine Statistics Authority (PSA)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660904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5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Survey on Overseas Filipinos (SOF) — Remittance by Mode of Transfer, Tables 9/6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871216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https://psa.gov.ph/statistics/survey/labor-and-employment/survey-overseas-filipinos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072384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Supplementary dataset. Bank vs. non-bank usage rates 2019–2024. Used for: 39% informal rate proxy applied to BSP corridor volumes.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602736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602736"/>
            <a:ext cx="82296" cy="10972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75888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BSP Department of Economic Statistics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922776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5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Discussion Paper: Remittances from Overseas Filipinos in the Time of COVID-19 — Spillovers and Policy Imperatives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133088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https://www.bsp.gov.ph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334256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Background literature. Reviewed for context on US corridor inflation via correspondent banking and COVID-era remittance behavioral shifts. Tables not used in analysis.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4447</Words>
  <Application>WPS Presentation</Application>
  <PresentationFormat>On-screen Show (16:9)</PresentationFormat>
  <Paragraphs>162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SimSun</vt:lpstr>
      <vt:lpstr>Wingdings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OFW Remittance Analysis — Identifying Underserved Corridors</dc:title>
  <dc:creator>Lester John Taborda</dc:creator>
  <dc:subject>PptxGenJS Presentation</dc:subject>
  <cp:lastModifiedBy>Lester John Taborda</cp:lastModifiedBy>
  <cp:revision>9</cp:revision>
  <dcterms:created xsi:type="dcterms:W3CDTF">2026-03-26T06:13:00Z</dcterms:created>
  <dcterms:modified xsi:type="dcterms:W3CDTF">2026-03-26T06:59:52Z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3A26E2621B334C8385150DA245D7B65F_12</vt:lpwstr>
  </property>
  <property fmtid="{D5CDD505-2E9C-101B-9397-08002B2CF9AE}" pid="3" name="KSOProductBuildVer">
    <vt:lpwstr>1033-12.1.0.25242</vt:lpwstr>
  </property>
</Properties>
</file>